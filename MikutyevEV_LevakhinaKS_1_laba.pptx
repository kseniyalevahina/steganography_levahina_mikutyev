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473" r:id="rId3"/>
    <p:sldId id="492" r:id="rId4"/>
    <p:sldId id="489" r:id="rId5"/>
    <p:sldId id="490" r:id="rId6"/>
    <p:sldId id="491" r:id="rId7"/>
    <p:sldId id="507" r:id="rId8"/>
    <p:sldId id="508" r:id="rId9"/>
    <p:sldId id="509" r:id="rId10"/>
    <p:sldId id="495" r:id="rId11"/>
    <p:sldId id="496" r:id="rId12"/>
    <p:sldId id="497" r:id="rId13"/>
    <p:sldId id="501" r:id="rId14"/>
    <p:sldId id="502" r:id="rId15"/>
    <p:sldId id="503" r:id="rId16"/>
    <p:sldId id="498" r:id="rId17"/>
    <p:sldId id="499" r:id="rId18"/>
    <p:sldId id="500" r:id="rId19"/>
    <p:sldId id="504" r:id="rId20"/>
    <p:sldId id="505" r:id="rId21"/>
    <p:sldId id="506" r:id="rId22"/>
    <p:sldId id="493" r:id="rId23"/>
    <p:sldId id="512" r:id="rId24"/>
    <p:sldId id="511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92"/>
            <p14:sldId id="489"/>
            <p14:sldId id="490"/>
            <p14:sldId id="491"/>
            <p14:sldId id="507"/>
            <p14:sldId id="508"/>
            <p14:sldId id="509"/>
            <p14:sldId id="495"/>
            <p14:sldId id="496"/>
            <p14:sldId id="497"/>
            <p14:sldId id="501"/>
            <p14:sldId id="502"/>
            <p14:sldId id="503"/>
            <p14:sldId id="498"/>
            <p14:sldId id="499"/>
            <p14:sldId id="500"/>
            <p14:sldId id="504"/>
            <p14:sldId id="505"/>
            <p14:sldId id="506"/>
            <p14:sldId id="493"/>
            <p14:sldId id="512"/>
            <p14:sldId id="5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  <p:cmAuthor id="2" name="Егор Микутьев" initials="ЕМ" lastIdx="1" clrIdx="1">
    <p:extLst>
      <p:ext uri="{19B8F6BF-5375-455C-9EA6-DF929625EA0E}">
        <p15:presenceInfo xmlns:p15="http://schemas.microsoft.com/office/powerpoint/2012/main" userId="5af1dbe6a5fc305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51" autoAdjust="0"/>
  </p:normalViewPr>
  <p:slideViewPr>
    <p:cSldViewPr snapToGrid="0">
      <p:cViewPr varScale="1">
        <p:scale>
          <a:sx n="89" d="100"/>
          <a:sy n="89" d="100"/>
        </p:scale>
        <p:origin x="494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5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2.xml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6009756" cy="1458884"/>
          </a:xfrm>
        </p:spPr>
        <p:txBody>
          <a:bodyPr>
            <a:normAutofit fontScale="90000"/>
          </a:bodyPr>
          <a:lstStyle/>
          <a:p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Стеганографические</a:t>
            </a: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методы защиты информации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1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157220"/>
            <a:ext cx="6268482" cy="205654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Левахина Ксения и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Микутьев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Егор ТКИ-441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 Сидоренко Валентина Геннадьевна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838200" y="1613118"/>
            <a:ext cx="88271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ru-RU" sz="2800" dirty="0">
                <a:hlinkClick r:id="rId2" action="ppaction://hlinksldjump"/>
              </a:rPr>
              <a:t>Теория из методички </a:t>
            </a:r>
            <a:r>
              <a:rPr lang="ru-RU" sz="2800" dirty="0"/>
              <a:t>– 3 </a:t>
            </a:r>
            <a:r>
              <a:rPr lang="ru-RU" sz="2800" dirty="0" err="1"/>
              <a:t>стр</a:t>
            </a:r>
            <a:r>
              <a:rPr lang="ru-RU" sz="2800" dirty="0"/>
              <a:t> </a:t>
            </a:r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3" action="ppaction://hlinksldjump"/>
              </a:rPr>
              <a:t>Примеры первых 3 тестов </a:t>
            </a:r>
            <a:r>
              <a:rPr lang="ru-RU" sz="2800" dirty="0"/>
              <a:t>– 4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4" action="ppaction://hlinksldjump"/>
              </a:rPr>
              <a:t>Примеры вторых 3 тестов </a:t>
            </a:r>
            <a:r>
              <a:rPr lang="ru-RU" sz="2800" dirty="0"/>
              <a:t>– 10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5" action="ppaction://hlinksldjump"/>
              </a:rPr>
              <a:t>Примеры третьих 3 тестов </a:t>
            </a:r>
            <a:r>
              <a:rPr lang="ru-RU" sz="2800" dirty="0"/>
              <a:t>– 16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6" action="ppaction://hlinksldjump"/>
              </a:rPr>
              <a:t>Анализ результатов </a:t>
            </a:r>
            <a:r>
              <a:rPr lang="ru-RU" sz="2800" dirty="0"/>
              <a:t>– 22 </a:t>
            </a:r>
            <a:r>
              <a:rPr lang="ru-RU" sz="2800" dirty="0" err="1"/>
              <a:t>стр</a:t>
            </a:r>
            <a:endParaRPr lang="en-US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7" action="ppaction://hlinksldjump"/>
              </a:rPr>
              <a:t>Справка по тестам  </a:t>
            </a:r>
            <a:r>
              <a:rPr lang="ru-RU" sz="2800" dirty="0"/>
              <a:t>– 24 </a:t>
            </a:r>
            <a:r>
              <a:rPr lang="ru-RU" sz="2800" dirty="0" err="1"/>
              <a:t>стр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Теория из методички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D0B26-743E-4A76-ADE8-78FCC97ACB90}"/>
              </a:ext>
            </a:extLst>
          </p:cNvPr>
          <p:cNvSpPr txBox="1"/>
          <p:nvPr/>
        </p:nvSpPr>
        <p:spPr>
          <a:xfrm>
            <a:off x="562427" y="1746979"/>
            <a:ext cx="110671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Суммирующий генератор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Генератор, предложенный Р.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Рюппелом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суммирует выходы двух ЛРОС. Это нелинейная операция. В конце 80-х годов суммирующий генератор являлся самым безопасным, но он не устоял перед корреляционным вскрытием. Данный генератор является частным случаем обратной связи с использованием сдвигового регистра.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DNRSG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(динамический генератор случайных последовательностей)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Этот генератор состоит из двух фильтруемых генераторов, которые используют один ЛРОС.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Во-первых, все ЛРОС тактируются. Если вход ЛРОС-0 равен 1, то считается выход первого ЛРОС. Если выход ЛРОС-0 равен 0, то считается выход второго генератора. Конечным результатом является операция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выводов двух этих ЛРОС</a:t>
            </a:r>
          </a:p>
        </p:txBody>
      </p:sp>
    </p:spTree>
    <p:extLst>
      <p:ext uri="{BB962C8B-B14F-4D97-AF65-F5344CB8AC3E}">
        <p14:creationId xmlns:p14="http://schemas.microsoft.com/office/powerpoint/2010/main" val="289469052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334230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Примеры первых тестов. Длина 32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BCDDD4-66B5-40DE-8538-1819025B8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8" y="1340069"/>
            <a:ext cx="8767882" cy="5016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DF2CA-A94D-448C-8B95-778D6707D238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00000002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32</a:t>
            </a:r>
          </a:p>
          <a:p>
            <a:r>
              <a:rPr lang="ru-RU" dirty="0"/>
              <a:t>Влияющие биты2 – 1, 3, 32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036535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7" y="319088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Примеры тестов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2C7CD7-AC81-43EC-B670-38C2A3D54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7" y="1418897"/>
            <a:ext cx="8934255" cy="5120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F4DFEA-F341-4C5A-ADDB-6654A0D40737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00000002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</a:t>
            </a:r>
            <a:r>
              <a:rPr lang="ru-RU" b="1" dirty="0"/>
              <a:t>1, 6, 32</a:t>
            </a:r>
          </a:p>
          <a:p>
            <a:r>
              <a:rPr lang="ru-RU" dirty="0"/>
              <a:t>Влияющие биты2 – </a:t>
            </a:r>
            <a:r>
              <a:rPr lang="ru-RU" b="1" dirty="0"/>
              <a:t>2, 7, 32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3247796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173" y="256026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F495E9-A5E9-49CA-A904-8A4E9259F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73" y="1428039"/>
            <a:ext cx="8858274" cy="5110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C3DC6-9839-4427-A06A-784E1E282E52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80000000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40000000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32</a:t>
            </a:r>
          </a:p>
          <a:p>
            <a:r>
              <a:rPr lang="ru-RU" dirty="0"/>
              <a:t>Влияющие биты2 – 1, 3, 32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13643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334230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Примеры первых тестов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DF2CA-A94D-448C-8B95-778D6707D238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00000002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32</a:t>
            </a:r>
          </a:p>
          <a:p>
            <a:r>
              <a:rPr lang="ru-RU" dirty="0"/>
              <a:t>Влияющие биты2 – 1, 3,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47D46DC-41CF-4E6E-A893-D9B43B5F2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73" y="986883"/>
            <a:ext cx="8269227" cy="536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95954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7" y="319088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Примеры тестов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4DFEA-F341-4C5A-ADDB-6654A0D40737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00000002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</a:t>
            </a:r>
            <a:r>
              <a:rPr lang="ru-RU" b="1" dirty="0"/>
              <a:t>1, 6, 32</a:t>
            </a:r>
          </a:p>
          <a:p>
            <a:r>
              <a:rPr lang="ru-RU" dirty="0"/>
              <a:t>Влияющие биты2 – </a:t>
            </a:r>
            <a:r>
              <a:rPr lang="ru-RU" b="1" dirty="0"/>
              <a:t>2, 7, 32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497C1FE-0DDD-4ADD-B5CF-E7021A5B5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6" y="858328"/>
            <a:ext cx="8733461" cy="567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396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173" y="256026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C3DC6-9839-4427-A06A-784E1E282E52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80000000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40000000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32</a:t>
            </a:r>
          </a:p>
          <a:p>
            <a:r>
              <a:rPr lang="ru-RU" dirty="0"/>
              <a:t>Влияющие биты2 – 1, 3,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D8D446C-B4FF-487E-94C3-027F44B02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36" y="896740"/>
            <a:ext cx="8543122" cy="553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43928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вторых трех тестов. Длина 16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7D6ED-2BD0-4EDF-B223-8E4E90C35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44" y="1170588"/>
            <a:ext cx="8549522" cy="4971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1309BF-B0D5-4974-B604-9B62F386F5C0}"/>
              </a:ext>
            </a:extLst>
          </p:cNvPr>
          <p:cNvSpPr txBox="1"/>
          <p:nvPr/>
        </p:nvSpPr>
        <p:spPr>
          <a:xfrm>
            <a:off x="9021879" y="1750207"/>
            <a:ext cx="2485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0001</a:t>
            </a:r>
          </a:p>
          <a:p>
            <a:r>
              <a:rPr lang="ru-RU" dirty="0"/>
              <a:t>ЛРОС2</a:t>
            </a:r>
            <a:r>
              <a:rPr lang="en-US" dirty="0"/>
              <a:t>: 0002</a:t>
            </a:r>
            <a:br>
              <a:rPr lang="en-US" dirty="0"/>
            </a:br>
            <a:r>
              <a:rPr lang="ru-RU" dirty="0"/>
              <a:t>Длина = 16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16</a:t>
            </a:r>
          </a:p>
          <a:p>
            <a:r>
              <a:rPr lang="ru-RU" dirty="0"/>
              <a:t>Влияющие биты2 – 1, 3, 16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47075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влияющие биты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135C69-CEAD-4ADB-938D-AD896A89B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8" y="1244606"/>
            <a:ext cx="8971456" cy="5111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1EE0DC-605B-40FE-B7B5-28A0E11F95ED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0001</a:t>
            </a:r>
          </a:p>
          <a:p>
            <a:r>
              <a:rPr lang="ru-RU" dirty="0"/>
              <a:t>ЛРОС2</a:t>
            </a:r>
            <a:r>
              <a:rPr lang="en-US" dirty="0"/>
              <a:t>: 0002</a:t>
            </a:r>
            <a:br>
              <a:rPr lang="en-US" dirty="0"/>
            </a:br>
            <a:r>
              <a:rPr lang="ru-RU" dirty="0"/>
              <a:t>Длина = 16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</a:t>
            </a:r>
            <a:r>
              <a:rPr lang="ru-RU" b="1" dirty="0"/>
              <a:t>1, 4, 16</a:t>
            </a:r>
          </a:p>
          <a:p>
            <a:r>
              <a:rPr lang="ru-RU" dirty="0"/>
              <a:t>Влияющие биты2 – </a:t>
            </a:r>
            <a:r>
              <a:rPr lang="ru-RU" b="1" dirty="0"/>
              <a:t>1, 5, 16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47055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изначальный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B29991-CDDA-4B77-8C21-A0057866B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3" y="1185490"/>
            <a:ext cx="8992422" cy="5170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7C6476-4BB8-45BF-AFB2-470DDC97000F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b="1" dirty="0"/>
              <a:t>8000</a:t>
            </a:r>
            <a:endParaRPr lang="en-US" b="1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b="1" dirty="0"/>
              <a:t>4000</a:t>
            </a:r>
            <a:br>
              <a:rPr lang="en-US" dirty="0"/>
            </a:br>
            <a:r>
              <a:rPr lang="ru-RU" dirty="0"/>
              <a:t>Длина = 16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16</a:t>
            </a:r>
          </a:p>
          <a:p>
            <a:r>
              <a:rPr lang="ru-RU" dirty="0"/>
              <a:t>Влияющие биты2 – 1, 3, 16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013023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вторых трех тестов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309BF-B0D5-4974-B604-9B62F386F5C0}"/>
              </a:ext>
            </a:extLst>
          </p:cNvPr>
          <p:cNvSpPr txBox="1"/>
          <p:nvPr/>
        </p:nvSpPr>
        <p:spPr>
          <a:xfrm>
            <a:off x="9021879" y="1750207"/>
            <a:ext cx="2485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0001</a:t>
            </a:r>
          </a:p>
          <a:p>
            <a:r>
              <a:rPr lang="ru-RU" dirty="0"/>
              <a:t>ЛРОС2</a:t>
            </a:r>
            <a:r>
              <a:rPr lang="en-US" dirty="0"/>
              <a:t>: 0002</a:t>
            </a:r>
            <a:br>
              <a:rPr lang="en-US" dirty="0"/>
            </a:br>
            <a:r>
              <a:rPr lang="ru-RU" dirty="0"/>
              <a:t>Длина = 16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16</a:t>
            </a:r>
          </a:p>
          <a:p>
            <a:r>
              <a:rPr lang="ru-RU" dirty="0"/>
              <a:t>Влияющие биты2 – 1, 3, 16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BA0FAD9-E342-446B-AEA2-F6F5EE7B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8" y="929048"/>
            <a:ext cx="8086478" cy="5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73587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влияющие биты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EE0DC-605B-40FE-B7B5-28A0E11F95ED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0001</a:t>
            </a:r>
          </a:p>
          <a:p>
            <a:r>
              <a:rPr lang="ru-RU" dirty="0"/>
              <a:t>ЛРОС2</a:t>
            </a:r>
            <a:r>
              <a:rPr lang="en-US" dirty="0"/>
              <a:t>: 0002</a:t>
            </a:r>
            <a:br>
              <a:rPr lang="en-US" dirty="0"/>
            </a:br>
            <a:r>
              <a:rPr lang="ru-RU" dirty="0"/>
              <a:t>Длина = 16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</a:t>
            </a:r>
            <a:r>
              <a:rPr lang="ru-RU" b="1" dirty="0"/>
              <a:t>1, 4, 16</a:t>
            </a:r>
          </a:p>
          <a:p>
            <a:r>
              <a:rPr lang="ru-RU" dirty="0"/>
              <a:t>Влияющие биты2 – </a:t>
            </a:r>
            <a:r>
              <a:rPr lang="ru-RU" b="1" dirty="0"/>
              <a:t>1, 5, 16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740C80E-E4E7-4F5B-A4B0-1C965E589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59" y="1186902"/>
            <a:ext cx="8298341" cy="544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295226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изначальный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C6476-4BB8-45BF-AFB2-470DDC97000F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b="1" dirty="0"/>
              <a:t>8000</a:t>
            </a:r>
            <a:endParaRPr lang="en-US" b="1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b="1" dirty="0"/>
              <a:t>4000</a:t>
            </a:r>
            <a:br>
              <a:rPr lang="en-US" dirty="0"/>
            </a:br>
            <a:r>
              <a:rPr lang="ru-RU" dirty="0"/>
              <a:t>Длина = 16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2, 16</a:t>
            </a:r>
          </a:p>
          <a:p>
            <a:r>
              <a:rPr lang="ru-RU" dirty="0"/>
              <a:t>Влияющие биты2 – 1, 3, 16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704EBE-5737-488C-A9BE-167CA1513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64" y="929049"/>
            <a:ext cx="8329236" cy="541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9725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Примеры третьих тестов. Длина 24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BA93EB-61D4-4782-B8F6-0F2004A9D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8" y="1136923"/>
            <a:ext cx="8916879" cy="5219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E442FA-0211-4960-B7B7-2B04F922EBC0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000001</a:t>
            </a:r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000002</a:t>
            </a:r>
            <a:br>
              <a:rPr lang="en-US" dirty="0"/>
            </a:br>
            <a:r>
              <a:rPr lang="ru-RU" dirty="0"/>
              <a:t>Длина = 24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3, 24</a:t>
            </a:r>
          </a:p>
          <a:p>
            <a:r>
              <a:rPr lang="ru-RU" dirty="0"/>
              <a:t>Влияющие биты2 – 1, 4, 24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3660336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влияющие биты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7C66E1-D0D1-486E-8A75-D3A99752E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8" y="1182226"/>
            <a:ext cx="9039549" cy="5174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9B4054-AED2-4A98-844B-D273BE01B386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000001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000002</a:t>
            </a:r>
            <a:br>
              <a:rPr lang="en-US" dirty="0"/>
            </a:br>
            <a:r>
              <a:rPr lang="ru-RU" dirty="0"/>
              <a:t>Длина = 24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</a:t>
            </a:r>
            <a:r>
              <a:rPr lang="ru-RU" b="1" dirty="0"/>
              <a:t>1, 5, 24</a:t>
            </a:r>
          </a:p>
          <a:p>
            <a:r>
              <a:rPr lang="ru-RU" dirty="0"/>
              <a:t>Влияющие биты2 – </a:t>
            </a:r>
            <a:r>
              <a:rPr lang="ru-RU" b="1" dirty="0"/>
              <a:t>2, 6, 24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967712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1065F6-6850-4964-B742-76B494B80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8" y="1154437"/>
            <a:ext cx="8992252" cy="5201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34C72-119C-42E9-95B9-6C638E4074AF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800000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400000</a:t>
            </a:r>
            <a:br>
              <a:rPr lang="en-US" dirty="0"/>
            </a:br>
            <a:r>
              <a:rPr lang="ru-RU" dirty="0"/>
              <a:t>Длина = 24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3, 24</a:t>
            </a:r>
          </a:p>
          <a:p>
            <a:r>
              <a:rPr lang="ru-RU" dirty="0"/>
              <a:t>Влияющие биты2 – 1, 4, 24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3444702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Примеры третьих тестов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442FA-0211-4960-B7B7-2B04F922EBC0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000001</a:t>
            </a:r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000002</a:t>
            </a:r>
            <a:br>
              <a:rPr lang="en-US" dirty="0"/>
            </a:br>
            <a:r>
              <a:rPr lang="ru-RU" dirty="0"/>
              <a:t>Длина = 24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3, 24</a:t>
            </a:r>
          </a:p>
          <a:p>
            <a:r>
              <a:rPr lang="ru-RU" dirty="0"/>
              <a:t>Влияющие биты2 – 1, 4, 24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CAC7131-2F86-41D1-B303-172A22AB9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36" y="929049"/>
            <a:ext cx="8616351" cy="557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16954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влияющие биты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B4054-AED2-4A98-844B-D273BE01B386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000001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000002</a:t>
            </a:r>
            <a:br>
              <a:rPr lang="en-US" dirty="0"/>
            </a:br>
            <a:r>
              <a:rPr lang="ru-RU" dirty="0"/>
              <a:t>Длина = 24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</a:t>
            </a:r>
            <a:r>
              <a:rPr lang="ru-RU" b="1" dirty="0"/>
              <a:t>1, 5, 24</a:t>
            </a:r>
          </a:p>
          <a:p>
            <a:r>
              <a:rPr lang="ru-RU" dirty="0"/>
              <a:t>Влияющие биты2 – </a:t>
            </a:r>
            <a:r>
              <a:rPr lang="ru-RU" b="1" dirty="0"/>
              <a:t>2, 6, 24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DCADD7E-6B5F-4E90-9559-C2CE7FF77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18" y="936129"/>
            <a:ext cx="8411640" cy="552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004503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Поменяли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21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34C72-119C-42E9-95B9-6C638E4074AF}"/>
              </a:ext>
            </a:extLst>
          </p:cNvPr>
          <p:cNvSpPr txBox="1"/>
          <p:nvPr/>
        </p:nvSpPr>
        <p:spPr>
          <a:xfrm>
            <a:off x="9758526" y="1796613"/>
            <a:ext cx="20145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800000</a:t>
            </a:r>
            <a:endParaRPr lang="en-US" dirty="0"/>
          </a:p>
          <a:p>
            <a:r>
              <a:rPr lang="ru-RU" dirty="0"/>
              <a:t>ЛРОС2</a:t>
            </a:r>
            <a:r>
              <a:rPr lang="en-US" dirty="0"/>
              <a:t>: </a:t>
            </a:r>
            <a:r>
              <a:rPr lang="ru-RU" dirty="0"/>
              <a:t>400000</a:t>
            </a:r>
            <a:br>
              <a:rPr lang="en-US" dirty="0"/>
            </a:br>
            <a:r>
              <a:rPr lang="ru-RU" dirty="0"/>
              <a:t>Длина = 24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биты1 – 1, 3, 24</a:t>
            </a:r>
          </a:p>
          <a:p>
            <a:r>
              <a:rPr lang="ru-RU" dirty="0"/>
              <a:t>Влияющие биты2 – 1, 4, 24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DE05855-2811-4FDA-AF5B-1DC82377F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36" y="855408"/>
            <a:ext cx="8794959" cy="568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028558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Анализ результатов</a:t>
            </a:r>
            <a:b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Влияющие биты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FDC05-42A9-4211-ADE8-6B4C5EDDE516}"/>
              </a:ext>
            </a:extLst>
          </p:cNvPr>
          <p:cNvSpPr txBox="1"/>
          <p:nvPr/>
        </p:nvSpPr>
        <p:spPr>
          <a:xfrm>
            <a:off x="232800" y="1245155"/>
            <a:ext cx="1131210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Влияющие биты — определяющий фактор качества генератора</a:t>
            </a:r>
          </a:p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Влияющие биты задают полином обратной связи. Если выбранная комбинация образует примитивный многочлен, регистр проходит через все возможные ненулевые состояния, и период достигает максимального значения 2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^N - 1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 противном случае регистр зацикливается значительно раньше, что отражается на статистических характеристиках.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Чем лучше выбраны влияющие биты (особенно важно включать старший бит, равный длине регистра), тем длиннее период и тем ближе график к белому шуму.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/>
          </a:p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показательным является сравнение первого и второго тестов для 32-битной длины. При влияющих битах 1,2,32 генератор продемонстрировал коэффициент автокорреляции 0.4172 при лаге 32 и прошёл лишь 3 теста из 12. Это свидетельствует о вырождении периода и быстром зацикливании. </a:t>
            </a:r>
          </a:p>
          <a:p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Замена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влияющих битов на 1,6,32 привела к кардинальному улучшению: 10 пройденных тестов из 12 и коэффициент автокорреляции, стремящийся к нулю. </a:t>
            </a:r>
          </a:p>
          <a:p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Аналогичная закономерность прослеживается и на других длинах. </a:t>
            </a:r>
          </a:p>
          <a:p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915663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Анализ результатов</a:t>
            </a:r>
            <a:b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Начальные ЛРОС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FDC05-42A9-4211-ADE8-6B4C5EDDE516}"/>
              </a:ext>
            </a:extLst>
          </p:cNvPr>
          <p:cNvSpPr txBox="1"/>
          <p:nvPr/>
        </p:nvSpPr>
        <p:spPr>
          <a:xfrm>
            <a:off x="301924" y="1457864"/>
            <a:ext cx="113121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Массив ЛРОС определяет точку входа в цикл генератора, но не влияет на его длину. Если влияющие биты образуют примитивный многочлен, генератор имеет единственный цикл максимальной длины, и выбор начального состояния несущественен. 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если влияющие биты не оптимальны, то это все может делиться на несколько циклов различной длины, и начальное состояние определяет, в какой именно цикл попадёт генератор.</a:t>
            </a:r>
          </a:p>
          <a:p>
            <a:endParaRPr lang="ru-RU" dirty="0"/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подтверждается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третьими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тестами во всех трёх группах. При замене 0001 на 8000 (16 бит), 000001 на 800000 (24 бита) и 00000001 на 80000000 (32 бита) при тех же самых влияющих битах наблюдалось ухудшение результатов. В 32-битном случае результат упал с 3 до 2 пройденных тестов, а коэффициент автокорреляции вырос с 0.4172 до 0.2684. Это демонстрирует, что начальное состояние не способно компенсировать недостатки влияющих битов, но может усугубить ситуацию, переместив генератор в статистически худшую часть цикла.</a:t>
            </a:r>
          </a:p>
          <a:p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работает: длина 8, влияющие биты: 8, 6, 5.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Мы берем значения 8-го, 6-го, 5-го битов.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Считаем XOR: Бит8 ⊕ Бит6 ⊕ Бит5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(0 или 1) становится новым битом, который встает на место 1-го бита (при сдвиге вправо). Крайний правый бит «выпадает» и идет на выход.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62578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Справка по тестам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920A39-BC7F-4E12-A023-5EE8EDFC0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3" y="1003094"/>
            <a:ext cx="6196866" cy="506127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534A70-5843-4BE3-AF88-FEAD1B9DD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90" y="1276709"/>
            <a:ext cx="5648190" cy="326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93305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2576</TotalTime>
  <Words>1206</Words>
  <Application>Microsoft Office PowerPoint</Application>
  <PresentationFormat>Широкоэкранный</PresentationFormat>
  <Paragraphs>183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Times New Roman</vt:lpstr>
      <vt:lpstr>Тема Office</vt:lpstr>
      <vt:lpstr>Стеганографические методы защиты информации Задание 1</vt:lpstr>
      <vt:lpstr>Оглавление</vt:lpstr>
      <vt:lpstr>Теория из методички</vt:lpstr>
      <vt:lpstr>Примеры первых тестов. Длина 32</vt:lpstr>
      <vt:lpstr>Примеры тестов</vt:lpstr>
      <vt:lpstr>Поменяли ЛРОС</vt:lpstr>
      <vt:lpstr>Примеры первых тестов</vt:lpstr>
      <vt:lpstr>Примеры тестов</vt:lpstr>
      <vt:lpstr>Поменяли ЛРОС</vt:lpstr>
      <vt:lpstr>Пример вторых трех тестов. Длина 16</vt:lpstr>
      <vt:lpstr>Поменяли влияющие биты</vt:lpstr>
      <vt:lpstr>Поменяли изначальный ЛРОС</vt:lpstr>
      <vt:lpstr>Пример вторых трех тестов</vt:lpstr>
      <vt:lpstr>Поменяли влияющие биты</vt:lpstr>
      <vt:lpstr>Поменяли изначальный ЛРОС</vt:lpstr>
      <vt:lpstr>Примеры третьих тестов. Длина 24</vt:lpstr>
      <vt:lpstr>Поменяли влияющие биты</vt:lpstr>
      <vt:lpstr>Поменяли ЛРОС</vt:lpstr>
      <vt:lpstr>Примеры третьих тестов</vt:lpstr>
      <vt:lpstr>Поменяли влияющие биты</vt:lpstr>
      <vt:lpstr>Поменяли ЛРОС</vt:lpstr>
      <vt:lpstr>Анализ результатов Влияющие биты</vt:lpstr>
      <vt:lpstr>Анализ результатов Начальные ЛРОС</vt:lpstr>
      <vt:lpstr>Справка по тестам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Левахина Ксения Сергеевна</cp:lastModifiedBy>
  <cp:revision>292</cp:revision>
  <dcterms:created xsi:type="dcterms:W3CDTF">2021-11-29T10:22:08Z</dcterms:created>
  <dcterms:modified xsi:type="dcterms:W3CDTF">2026-10-05T14:34:06Z</dcterms:modified>
</cp:coreProperties>
</file>