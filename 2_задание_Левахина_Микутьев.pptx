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473" r:id="rId3"/>
    <p:sldId id="492" r:id="rId4"/>
    <p:sldId id="493" r:id="rId5"/>
    <p:sldId id="531" r:id="rId6"/>
    <p:sldId id="507" r:id="rId7"/>
    <p:sldId id="517" r:id="rId8"/>
    <p:sldId id="518" r:id="rId9"/>
    <p:sldId id="519" r:id="rId10"/>
    <p:sldId id="520" r:id="rId11"/>
    <p:sldId id="524" r:id="rId12"/>
    <p:sldId id="521" r:id="rId13"/>
    <p:sldId id="522" r:id="rId14"/>
    <p:sldId id="525" r:id="rId15"/>
    <p:sldId id="528" r:id="rId16"/>
    <p:sldId id="530" r:id="rId17"/>
    <p:sldId id="516" r:id="rId18"/>
    <p:sldId id="508" r:id="rId19"/>
    <p:sldId id="509" r:id="rId20"/>
    <p:sldId id="510" r:id="rId21"/>
    <p:sldId id="511" r:id="rId22"/>
    <p:sldId id="512" r:id="rId23"/>
    <p:sldId id="513" r:id="rId24"/>
    <p:sldId id="51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492"/>
            <p14:sldId id="493"/>
            <p14:sldId id="531"/>
            <p14:sldId id="507"/>
            <p14:sldId id="517"/>
            <p14:sldId id="518"/>
            <p14:sldId id="519"/>
            <p14:sldId id="520"/>
            <p14:sldId id="524"/>
            <p14:sldId id="521"/>
            <p14:sldId id="522"/>
            <p14:sldId id="525"/>
            <p14:sldId id="528"/>
            <p14:sldId id="530"/>
            <p14:sldId id="516"/>
            <p14:sldId id="508"/>
            <p14:sldId id="509"/>
            <p14:sldId id="510"/>
            <p14:sldId id="511"/>
            <p14:sldId id="512"/>
            <p14:sldId id="513"/>
            <p14:sldId id="5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  <p:cmAuthor id="2" name="Егор Микутьев" initials="ЕМ" lastIdx="1" clrIdx="1">
    <p:extLst>
      <p:ext uri="{19B8F6BF-5375-455C-9EA6-DF929625EA0E}">
        <p15:presenceInfo xmlns:p15="http://schemas.microsoft.com/office/powerpoint/2012/main" userId="5af1dbe6a5fc305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3771" autoAdjust="0"/>
  </p:normalViewPr>
  <p:slideViewPr>
    <p:cSldViewPr snapToGrid="0">
      <p:cViewPr varScale="1">
        <p:scale>
          <a:sx n="88" d="100"/>
          <a:sy n="88" d="100"/>
        </p:scale>
        <p:origin x="57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29.10.2026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29.10.2026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29.10.2026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6.xml"/><Relationship Id="rId7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10" Type="http://schemas.openxmlformats.org/officeDocument/2006/relationships/slide" Target="slide17.xml"/><Relationship Id="rId4" Type="http://schemas.openxmlformats.org/officeDocument/2006/relationships/slide" Target="slide7.xml"/><Relationship Id="rId9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6009756" cy="1458884"/>
          </a:xfrm>
        </p:spPr>
        <p:txBody>
          <a:bodyPr>
            <a:normAutofit fontScale="90000"/>
          </a:bodyPr>
          <a:lstStyle/>
          <a:p>
            <a:r>
              <a:rPr lang="ru-RU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Стеганографические</a:t>
            </a: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методы защиты информации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2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157220"/>
            <a:ext cx="6268482" cy="205654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Левахина Ксения Сергеевна, ТКИ-441</a:t>
            </a:r>
          </a:p>
          <a:p>
            <a:pPr algn="l"/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Микутьев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Егор Вадимович, ТКИ-441</a:t>
            </a:r>
          </a:p>
          <a:p>
            <a:pPr algn="l"/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д.т.н. Сидоренко Валентина Геннадьевна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к.т.н.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838200" y="1613118"/>
            <a:ext cx="882717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 algn="just">
              <a:buAutoNum type="arabicPeriod"/>
            </a:pPr>
            <a:r>
              <a:rPr lang="ru-RU" sz="2800" dirty="0">
                <a:hlinkClick r:id="rId2" action="ppaction://hlinksldjump"/>
              </a:rPr>
              <a:t>Алгоритм </a:t>
            </a:r>
            <a:r>
              <a:rPr lang="en-US" sz="2800" dirty="0">
                <a:hlinkClick r:id="rId2" action="ppaction://hlinksldjump"/>
              </a:rPr>
              <a:t>F4</a:t>
            </a:r>
            <a:r>
              <a:rPr lang="ru-RU" sz="2800" dirty="0">
                <a:hlinkClick r:id="rId2" action="ppaction://hlinksldjump"/>
              </a:rPr>
              <a:t> </a:t>
            </a:r>
            <a:r>
              <a:rPr lang="ru-RU" sz="2800" dirty="0"/>
              <a:t>– 3 </a:t>
            </a:r>
            <a:r>
              <a:rPr lang="ru-RU" sz="2800" dirty="0" err="1"/>
              <a:t>стр</a:t>
            </a:r>
            <a:r>
              <a:rPr lang="ru-RU" sz="2800" dirty="0"/>
              <a:t> </a:t>
            </a:r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3" action="ppaction://hlinksldjump"/>
              </a:rPr>
              <a:t>Однотонный контейнер </a:t>
            </a:r>
            <a:r>
              <a:rPr lang="ru-RU" sz="2800" dirty="0"/>
              <a:t>– 5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AutoNum type="arabicPeriod"/>
            </a:pPr>
            <a:r>
              <a:rPr lang="en-US" sz="2800" dirty="0">
                <a:hlinkClick r:id="rId4" action="ppaction://hlinksldjump"/>
              </a:rPr>
              <a:t>“</a:t>
            </a:r>
            <a:r>
              <a:rPr lang="ru-RU" sz="2800" dirty="0">
                <a:hlinkClick r:id="rId4" action="ppaction://hlinksldjump"/>
              </a:rPr>
              <a:t>Шумный контейнер</a:t>
            </a:r>
            <a:r>
              <a:rPr lang="en-US" sz="2800" dirty="0">
                <a:hlinkClick r:id="rId4" action="ppaction://hlinksldjump"/>
              </a:rPr>
              <a:t>”</a:t>
            </a:r>
            <a:r>
              <a:rPr lang="ru-RU" sz="2800" dirty="0">
                <a:hlinkClick r:id="rId4" action="ppaction://hlinksldjump"/>
              </a:rPr>
              <a:t> </a:t>
            </a:r>
            <a:r>
              <a:rPr lang="ru-RU" sz="2800" dirty="0"/>
              <a:t>– 6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5" action="ppaction://hlinksldjump"/>
              </a:rPr>
              <a:t>Контейнер с плавными переходами </a:t>
            </a:r>
            <a:r>
              <a:rPr lang="ru-RU" sz="2800" dirty="0"/>
              <a:t>– 7 </a:t>
            </a:r>
            <a:r>
              <a:rPr lang="ru-RU" sz="2800" dirty="0" err="1"/>
              <a:t>стр</a:t>
            </a:r>
            <a:endParaRPr lang="en-US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6" action="ppaction://hlinksldjump"/>
              </a:rPr>
              <a:t>Контейнеры с яркой картинкой </a:t>
            </a:r>
            <a:r>
              <a:rPr lang="ru-RU" sz="2800" dirty="0"/>
              <a:t>– 8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FontTx/>
              <a:buAutoNum type="arabicPeriod"/>
            </a:pPr>
            <a:r>
              <a:rPr lang="ru-RU" sz="2800" dirty="0">
                <a:hlinkClick r:id="rId7" action="ppaction://hlinksldjump"/>
              </a:rPr>
              <a:t>Метрики (картинки разницы между пустым и заполненным контейнерами) по </a:t>
            </a:r>
            <a:r>
              <a:rPr lang="ru-RU" sz="2800" dirty="0" err="1">
                <a:hlinkClick r:id="rId7" action="ppaction://hlinksldjump"/>
              </a:rPr>
              <a:t>Домашкину</a:t>
            </a:r>
            <a:r>
              <a:rPr lang="ru-RU" sz="2800" dirty="0">
                <a:hlinkClick r:id="rId7" action="ppaction://hlinksldjump"/>
              </a:rPr>
              <a:t> </a:t>
            </a:r>
            <a:r>
              <a:rPr lang="ru-RU" sz="2800" dirty="0"/>
              <a:t>– 9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FontTx/>
              <a:buAutoNum type="arabicPeriod"/>
            </a:pPr>
            <a:r>
              <a:rPr lang="ru-RU" sz="2800" dirty="0">
                <a:hlinkClick r:id="rId8" action="ppaction://hlinksldjump"/>
              </a:rPr>
              <a:t>Метрики по Архипову </a:t>
            </a:r>
            <a:r>
              <a:rPr lang="ru-RU" sz="2800" dirty="0"/>
              <a:t>– 11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FontTx/>
              <a:buAutoNum type="arabicPeriod"/>
            </a:pPr>
            <a:r>
              <a:rPr lang="ru-RU" sz="2800" dirty="0">
                <a:hlinkClick r:id="rId9" action="ppaction://hlinksldjump"/>
              </a:rPr>
              <a:t>Сводная таблица метрик </a:t>
            </a:r>
            <a:r>
              <a:rPr lang="ru-RU" sz="2800" dirty="0"/>
              <a:t>– 16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FontTx/>
              <a:buAutoNum type="arabicPeriod"/>
            </a:pPr>
            <a:r>
              <a:rPr lang="en-US" sz="2800" dirty="0" err="1">
                <a:hlinkClick r:id="rId10" action="ppaction://hlinksldjump"/>
              </a:rPr>
              <a:t>StegoRevealer</a:t>
            </a:r>
            <a:r>
              <a:rPr lang="ru-RU" sz="2800" dirty="0"/>
              <a:t> – 18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Алгоритм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F4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D0B26-743E-4A76-ADE8-78FCC97ACB90}"/>
              </a:ext>
            </a:extLst>
          </p:cNvPr>
          <p:cNvSpPr txBox="1"/>
          <p:nvPr/>
        </p:nvSpPr>
        <p:spPr>
          <a:xfrm>
            <a:off x="562427" y="1166842"/>
            <a:ext cx="110671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F4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стеганографический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 (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Вестфельд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2001). Развитие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JSteg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F3.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F4 в данной работе реализован в пространственном варианте для BMP-изображений: встраивание выполняется напрямую в пиксели контейнера.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DNRSG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(динамический генератор случайных последовательностей)</a:t>
            </a: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скрытно встроить ЦВЗ в изображение-контейнер.</a:t>
            </a:r>
          </a:p>
          <a:p>
            <a:endParaRPr 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каждый пиксель даёт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один бит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 правилу чётности: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сравнивает текущий бит пикселя с очередным битом ЦВЗ: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совпал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пиксель не меняется;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совпал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значение меняется на ±1.</a:t>
            </a: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особенность — 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shrinkage: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правило, по которому алгоритм пропускает пиксели, которые нельзя изменить безопасно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Пиксели со значениями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и 255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пропускаются, а также те, что при изменении стали бы 0 или 255.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Это сохраняет естественную гистограмму изображения и затрудняет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стеганоанализ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B683D9C5-0D0F-45F1-9E09-05127400F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483218"/>
              </p:ext>
            </p:extLst>
          </p:nvPr>
        </p:nvGraphicFramePr>
        <p:xfrm>
          <a:off x="3148602" y="3241766"/>
          <a:ext cx="46259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988">
                  <a:extLst>
                    <a:ext uri="{9D8B030D-6E8A-4147-A177-3AD203B41FA5}">
                      <a16:colId xmlns:a16="http://schemas.microsoft.com/office/drawing/2014/main" val="2090837652"/>
                    </a:ext>
                  </a:extLst>
                </a:gridCol>
                <a:gridCol w="2312988">
                  <a:extLst>
                    <a:ext uri="{9D8B030D-6E8A-4147-A177-3AD203B41FA5}">
                      <a16:colId xmlns:a16="http://schemas.microsoft.com/office/drawing/2014/main" val="2123104117"/>
                    </a:ext>
                  </a:extLst>
                </a:gridCol>
              </a:tblGrid>
              <a:tr h="263106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267799"/>
                  </a:ext>
                </a:extLst>
              </a:tr>
              <a:tr h="263106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Чётное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174587"/>
                  </a:ext>
                </a:extLst>
              </a:tr>
              <a:tr h="263106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Нечётное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804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69052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Алгоритм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F4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 Встраивание, извлечение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D0B26-743E-4A76-ADE8-78FCC97ACB90}"/>
              </a:ext>
            </a:extLst>
          </p:cNvPr>
          <p:cNvSpPr txBox="1"/>
          <p:nvPr/>
        </p:nvSpPr>
        <p:spPr>
          <a:xfrm>
            <a:off x="327294" y="724039"/>
            <a:ext cx="27642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Встраивание: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Взять бит ЦВЗ и пиксель.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Если значение 0 или 255 → пропустить.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Определить бит пикселя по чётности.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Совпал → не менять; не совпал → изменить на ±1.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Повторять, пока не закончатся биты ЦВЗ.</a:t>
            </a:r>
            <a:endParaRPr lang="ru-RU" sz="2400" b="1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E8F4C-E037-4A89-9613-E05A91C7F700}"/>
              </a:ext>
            </a:extLst>
          </p:cNvPr>
          <p:cNvSpPr txBox="1"/>
          <p:nvPr/>
        </p:nvSpPr>
        <p:spPr>
          <a:xfrm>
            <a:off x="3288138" y="727283"/>
            <a:ext cx="27432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Извлечение: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Взять пиксель, пропустить 0 и 255.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Взять его чётность как бит.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Собрать нужное число бит → восстановить ЦВЗ.</a:t>
            </a:r>
          </a:p>
          <a:p>
            <a:pPr algn="l"/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ЦВЗ хранится в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заголовке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(первые 32 бита: 16 бит ширина + 16 бит высота).</a:t>
            </a:r>
            <a:endParaRPr lang="ru-RU" sz="24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D1FEF7-D546-4AEB-AEDB-672B48135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572" y="1239917"/>
            <a:ext cx="5357566" cy="227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6023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134293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Алгоритм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F4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 Встраивание, извлечение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4" name="Таблица 7">
            <a:extLst>
              <a:ext uri="{FF2B5EF4-FFF2-40B4-BE49-F238E27FC236}">
                <a16:creationId xmlns:a16="http://schemas.microsoft.com/office/drawing/2014/main" id="{45C5A2D4-8B8B-4771-A03F-CFECAE682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84277"/>
              </p:ext>
            </p:extLst>
          </p:nvPr>
        </p:nvGraphicFramePr>
        <p:xfrm>
          <a:off x="151748" y="805739"/>
          <a:ext cx="11709324" cy="591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5831">
                  <a:extLst>
                    <a:ext uri="{9D8B030D-6E8A-4147-A177-3AD203B41FA5}">
                      <a16:colId xmlns:a16="http://schemas.microsoft.com/office/drawing/2014/main" val="2576752891"/>
                    </a:ext>
                  </a:extLst>
                </a:gridCol>
                <a:gridCol w="5443493">
                  <a:extLst>
                    <a:ext uri="{9D8B030D-6E8A-4147-A177-3AD203B41FA5}">
                      <a16:colId xmlns:a16="http://schemas.microsoft.com/office/drawing/2014/main" val="3216543964"/>
                    </a:ext>
                  </a:extLst>
                </a:gridCol>
              </a:tblGrid>
              <a:tr h="459171">
                <a:tc>
                  <a:txBody>
                    <a:bodyPr/>
                    <a:lstStyle/>
                    <a:p>
                      <a:r>
                        <a:rPr lang="ru-RU" dirty="0"/>
                        <a:t>Встраивание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Извлечение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453032"/>
                  </a:ext>
                </a:extLst>
              </a:tr>
              <a:tr h="459171">
                <a:tc>
                  <a:txBody>
                    <a:bodyPr/>
                    <a:lstStyle/>
                    <a:p>
                      <a:r>
                        <a:rPr lang="ru-RU" sz="1600" dirty="0"/>
                        <a:t>1.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Загрузка пустого контейнера (BMP) и файла ЦВЗ.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9.1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Загрузка заполненного контейнера (BMP) и задание исходных параметров.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11161"/>
                  </a:ext>
                </a:extLst>
              </a:tr>
              <a:tr h="603079">
                <a:tc>
                  <a:txBody>
                    <a:bodyPr/>
                    <a:lstStyle/>
                    <a:p>
                      <a:r>
                        <a:rPr lang="ru-RU" sz="1600" dirty="0"/>
                        <a:t>2.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Перевод изображения ЦВЗ в одномерный массив битов (0 и 1).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9.2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Перевод заполненного контейнера в одномерный массив пикселей 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785823"/>
                  </a:ext>
                </a:extLst>
              </a:tr>
              <a:tr h="588235">
                <a:tc>
                  <a:txBody>
                    <a:bodyPr/>
                    <a:lstStyle/>
                    <a:p>
                      <a:r>
                        <a:rPr lang="ru-RU" sz="1600" dirty="0"/>
                        <a:t>3.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Разбиение массива контейнера в одномерную последовательность пикселей.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9.3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 шага 3. Последовательный проход по массиву пикселей с начала.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704678"/>
                  </a:ext>
                </a:extLst>
              </a:tr>
              <a:tr h="840336">
                <a:tc>
                  <a:txBody>
                    <a:bodyPr/>
                    <a:lstStyle/>
                    <a:p>
                      <a:r>
                        <a:rPr lang="ru-RU" sz="1600" dirty="0"/>
                        <a:t>4.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Итеративный проход по пикселям. Если пиксель равен 0 или 255, он пропускается.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9.4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Итеративный проход по пикселям. Если пиксель равен 0 или 255, он пропускается (чтобы синхронизироваться с этапом встраивания).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36305"/>
                  </a:ext>
                </a:extLst>
              </a:tr>
              <a:tr h="840336">
                <a:tc>
                  <a:txBody>
                    <a:bodyPr/>
                    <a:lstStyle/>
                    <a:p>
                      <a:r>
                        <a:rPr lang="ru-RU" sz="1600" dirty="0"/>
                        <a:t>5.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Определение текущего бита пикселя по правилу чётности (чётное = 0, нечётное = 1) и сравнение с очередным битом ЦВЗ.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9.5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Извлечение текущего бита из пикселя по правилу чётности (чётное = 0, нечётное = 1).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734560"/>
                  </a:ext>
                </a:extLst>
              </a:tr>
              <a:tr h="840336">
                <a:tc>
                  <a:txBody>
                    <a:bodyPr/>
                    <a:lstStyle/>
                    <a:p>
                      <a:r>
                        <a:rPr lang="ru-RU" sz="1600" dirty="0"/>
                        <a:t>6.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Модификация пикселя: если биты не совпали, значение меняется на ±1 (с учётом ограничений 0 и 255). Если совпали — пиксель не меняется.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9.6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Запись извлечённого бита в результирующий массив (вектор двоичных данных).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253236"/>
                  </a:ext>
                </a:extLst>
              </a:tr>
              <a:tr h="588235">
                <a:tc>
                  <a:txBody>
                    <a:bodyPr/>
                    <a:lstStyle/>
                    <a:p>
                      <a:r>
                        <a:rPr lang="ru-RU" sz="1600" dirty="0"/>
                        <a:t>7.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Повторение шагов 4–6 до тех пор, пока не закончатся все биты (заголовок + ЦВЗ).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9.7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Чтение первых 32 бит для определения размеров ЦВЗ. Затем считывание нужного количества бит.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3863"/>
                  </a:ext>
                </a:extLst>
              </a:tr>
              <a:tr h="579082">
                <a:tc>
                  <a:txBody>
                    <a:bodyPr/>
                    <a:lstStyle/>
                    <a:p>
                      <a:r>
                        <a:rPr lang="ru-RU" sz="1600" dirty="0"/>
                        <a:t>8.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Возвращение одномерного массива в исходную форму. Сохранение заполненного контейнера.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9.8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Преобразование вектора двоичных данных в матрицу. Сохранение извлеченного ЦВЗ.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227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842396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1B2D28-BC95-45A0-9FD3-6B51548FD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52" y="1555954"/>
            <a:ext cx="4631435" cy="804069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FDEDAC1-4F55-492C-9F5D-7F661C28E0B3}"/>
              </a:ext>
            </a:extLst>
          </p:cNvPr>
          <p:cNvSpPr txBox="1">
            <a:spLocks/>
          </p:cNvSpPr>
          <p:nvPr/>
        </p:nvSpPr>
        <p:spPr>
          <a:xfrm>
            <a:off x="228600" y="443503"/>
            <a:ext cx="6975705" cy="5659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Однотонный</a:t>
            </a:r>
            <a:r>
              <a:rPr lang="ru-RU" dirty="0"/>
              <a:t> 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контейнер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A18435-372A-4D75-8332-342D87E15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06574"/>
            <a:ext cx="4121659" cy="108929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D58D44-8711-4933-B10A-BF234CAE6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702" y="1555954"/>
            <a:ext cx="5235257" cy="6390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2677F4-06DF-4B74-8728-C10E1CA6F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7936" y="2884353"/>
            <a:ext cx="6421961" cy="108929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B50BF1C-D1A9-4737-BF3C-999B497C0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060" y="4257193"/>
            <a:ext cx="3317998" cy="18562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C42216-6EA3-4FA5-A9FE-B4DD22E9203C}"/>
              </a:ext>
            </a:extLst>
          </p:cNvPr>
          <p:cNvSpPr txBox="1"/>
          <p:nvPr/>
        </p:nvSpPr>
        <p:spPr>
          <a:xfrm>
            <a:off x="4415246" y="46577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Вывод: контейнер огромный, а ЦВЗ занимает всего 2% ёмкости. Поэтому встраивание незаметное.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15CF7D-690D-4208-8CF9-CA09C2E88002}"/>
              </a:ext>
            </a:extLst>
          </p:cNvPr>
          <p:cNvSpPr txBox="1"/>
          <p:nvPr/>
        </p:nvSpPr>
        <p:spPr>
          <a:xfrm>
            <a:off x="4415246" y="52746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К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артинка выглядит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точно так же, как розовая заливка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Г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лавная цель стеганографии — чтобы после встраивания контейнер был визуально неотличим от исходного.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262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2B412D2-4CF7-417A-B7DF-DC786FB83DBC}"/>
              </a:ext>
            </a:extLst>
          </p:cNvPr>
          <p:cNvSpPr txBox="1">
            <a:spLocks/>
          </p:cNvSpPr>
          <p:nvPr/>
        </p:nvSpPr>
        <p:spPr>
          <a:xfrm>
            <a:off x="228600" y="443503"/>
            <a:ext cx="6975705" cy="5659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“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Шумный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”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контейнер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82498D-29E9-4564-A6D1-74B6060CD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01510"/>
            <a:ext cx="5245824" cy="91497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C2DCDA-11CC-4EFB-82EF-BFF7C8F9C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04" y="2560245"/>
            <a:ext cx="3956031" cy="10712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72C334-A846-4AE3-B75F-BED319688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387" y="1438769"/>
            <a:ext cx="5616916" cy="7383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031994-AB77-49ED-8DF2-9526A3857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570" y="2543372"/>
            <a:ext cx="5044226" cy="88562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4C66B91-3A67-4F7B-B8DE-72BE66FD4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552" y="4011332"/>
            <a:ext cx="3956031" cy="227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6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A3042C-24F2-45FD-B160-6DA0B02E3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66" y="1465734"/>
            <a:ext cx="5659368" cy="99008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5025F17-95E0-475F-BC25-D327E61AA52E}"/>
              </a:ext>
            </a:extLst>
          </p:cNvPr>
          <p:cNvSpPr txBox="1">
            <a:spLocks/>
          </p:cNvSpPr>
          <p:nvPr/>
        </p:nvSpPr>
        <p:spPr>
          <a:xfrm>
            <a:off x="228600" y="443503"/>
            <a:ext cx="6975705" cy="565900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Контейнер с плавными </a:t>
            </a:r>
            <a:r>
              <a:rPr lang="ru-RU" sz="31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переходами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763E35-E44E-4A6B-B081-13A3E3F32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98" y="2782894"/>
            <a:ext cx="4411341" cy="12230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FAC1FF-07DF-43E6-AA43-E6B36E7926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132" y="1577036"/>
            <a:ext cx="5359852" cy="6436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E742454-59A8-4D46-ADDF-AB4884B6C8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132" y="2772397"/>
            <a:ext cx="5176701" cy="91823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CBDA1D3-A373-471B-B8EA-D4393CE312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479" y="4368487"/>
            <a:ext cx="3200801" cy="191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62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D0C548-C2F3-45EC-941D-29013DA4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87" y="1428724"/>
            <a:ext cx="4905546" cy="87033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78DC86-C7E8-444B-A55E-40A9A5461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91" y="2554804"/>
            <a:ext cx="4097063" cy="10853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D05287-EBFB-4ADB-A8C6-0225E2121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983" y="1542389"/>
            <a:ext cx="5816730" cy="74786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43CF99-44B8-462E-85E3-C61E948DC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71667"/>
            <a:ext cx="4237904" cy="74786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C46DD66-0E11-45BC-ACE6-DCC2B3DB03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708" y="3881199"/>
            <a:ext cx="3755660" cy="2592526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B6DA15BF-EEE6-4E99-BD83-24ECFEBBF36C}"/>
              </a:ext>
            </a:extLst>
          </p:cNvPr>
          <p:cNvSpPr txBox="1">
            <a:spLocks/>
          </p:cNvSpPr>
          <p:nvPr/>
        </p:nvSpPr>
        <p:spPr>
          <a:xfrm>
            <a:off x="228600" y="443503"/>
            <a:ext cx="6975705" cy="5659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Контейнер с яркой картинкой</a:t>
            </a:r>
          </a:p>
        </p:txBody>
      </p:sp>
    </p:spTree>
    <p:extLst>
      <p:ext uri="{BB962C8B-B14F-4D97-AF65-F5344CB8AC3E}">
        <p14:creationId xmlns:p14="http://schemas.microsoft.com/office/powerpoint/2010/main" val="273176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D17C10-DB0C-4592-86CC-6796EA8F5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35" y="1125527"/>
            <a:ext cx="4389500" cy="1280271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4196D4F-9689-4D4B-B98B-EBAE59703A8F}"/>
              </a:ext>
            </a:extLst>
          </p:cNvPr>
          <p:cNvSpPr txBox="1">
            <a:spLocks/>
          </p:cNvSpPr>
          <p:nvPr/>
        </p:nvSpPr>
        <p:spPr>
          <a:xfrm>
            <a:off x="254725" y="408669"/>
            <a:ext cx="6975705" cy="565900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Метрики (картинки разницы между пустым и заполненным контейнерами) по </a:t>
            </a:r>
            <a:r>
              <a:rPr lang="ru-RU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Домашкину</a:t>
            </a:r>
            <a:endParaRPr lang="ru-RU" sz="28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D4850-8CD3-4E4A-AF4A-E339A7AA8713}"/>
              </a:ext>
            </a:extLst>
          </p:cNvPr>
          <p:cNvSpPr txBox="1"/>
          <p:nvPr/>
        </p:nvSpPr>
        <p:spPr>
          <a:xfrm>
            <a:off x="4928076" y="2841461"/>
            <a:ext cx="1237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Empty (</a:t>
            </a:r>
            <a:r>
              <a:rPr lang="ru-RU" dirty="0"/>
              <a:t>розовая картинка)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9B2C6-4D53-4A35-A7B0-891D693FE91C}"/>
              </a:ext>
            </a:extLst>
          </p:cNvPr>
          <p:cNvSpPr txBox="1"/>
          <p:nvPr/>
        </p:nvSpPr>
        <p:spPr>
          <a:xfrm>
            <a:off x="10967362" y="1566203"/>
            <a:ext cx="1163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Empty (</a:t>
            </a:r>
            <a:r>
              <a:rPr lang="ru-RU" dirty="0"/>
              <a:t>шумная картинка)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09111C-0BFA-47CC-9F03-330DC1228717}"/>
              </a:ext>
            </a:extLst>
          </p:cNvPr>
          <p:cNvSpPr txBox="1"/>
          <p:nvPr/>
        </p:nvSpPr>
        <p:spPr>
          <a:xfrm>
            <a:off x="6478151" y="5438197"/>
            <a:ext cx="5551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Встраивание идёт с первого пикселя, а ЦВЗ маленький (43 498 бит), поэтому изменения затронули только начало изображения.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818105-F6EC-4B5C-A713-E9E0428C8C9D}"/>
              </a:ext>
            </a:extLst>
          </p:cNvPr>
          <p:cNvSpPr txBox="1"/>
          <p:nvPr/>
        </p:nvSpPr>
        <p:spPr>
          <a:xfrm>
            <a:off x="162075" y="538636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однотонном контейнере почти все пиксели одинаковые, поэтому изменение затрагивает один и тот же канал одинаково, и разница получается одного цвета.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34B9D1-E135-4A72-9A77-A6BCBB438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35" y="2841461"/>
            <a:ext cx="4389500" cy="246909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E7625CB-B1F6-4E1B-B3A9-F6178286B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034" y="1331863"/>
            <a:ext cx="3758424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93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4196D4F-9689-4D4B-B98B-EBAE59703A8F}"/>
              </a:ext>
            </a:extLst>
          </p:cNvPr>
          <p:cNvSpPr txBox="1">
            <a:spLocks/>
          </p:cNvSpPr>
          <p:nvPr/>
        </p:nvSpPr>
        <p:spPr>
          <a:xfrm>
            <a:off x="254725" y="408669"/>
            <a:ext cx="6975705" cy="5659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9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Метрики (картинки разницы между пустым и заполненным контейнерами) по </a:t>
            </a:r>
            <a:r>
              <a:rPr lang="ru-RU" sz="19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Домашкину</a:t>
            </a:r>
            <a:endParaRPr lang="ru-RU" sz="19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D4850-8CD3-4E4A-AF4A-E339A7AA8713}"/>
              </a:ext>
            </a:extLst>
          </p:cNvPr>
          <p:cNvSpPr txBox="1"/>
          <p:nvPr/>
        </p:nvSpPr>
        <p:spPr>
          <a:xfrm>
            <a:off x="1362893" y="5741517"/>
            <a:ext cx="324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Empty (</a:t>
            </a:r>
            <a:r>
              <a:rPr lang="ru-RU" dirty="0"/>
              <a:t>плавные переходы)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9B2C6-4D53-4A35-A7B0-891D693FE91C}"/>
              </a:ext>
            </a:extLst>
          </p:cNvPr>
          <p:cNvSpPr txBox="1"/>
          <p:nvPr/>
        </p:nvSpPr>
        <p:spPr>
          <a:xfrm>
            <a:off x="7580811" y="6062952"/>
            <a:ext cx="324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Empty (</a:t>
            </a:r>
            <a:r>
              <a:rPr lang="ru-RU" dirty="0"/>
              <a:t>апельсины пестрые)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C3D66B-5F56-4B80-8B78-CA9485520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61" y="1639299"/>
            <a:ext cx="5750399" cy="389499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5701BEA-E104-4485-834F-B438BA523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001" y="1158891"/>
            <a:ext cx="2683386" cy="476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79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42D1695-84B9-406C-BE18-FE73908F48A1}"/>
              </a:ext>
            </a:extLst>
          </p:cNvPr>
          <p:cNvSpPr txBox="1">
            <a:spLocks/>
          </p:cNvSpPr>
          <p:nvPr/>
        </p:nvSpPr>
        <p:spPr>
          <a:xfrm>
            <a:off x="228600" y="443503"/>
            <a:ext cx="6975705" cy="5659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9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Метрики (по Архипову)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969276-7A24-4FCA-BFC2-1D949B2BA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17" y="1075839"/>
            <a:ext cx="5290113" cy="56028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143494-942C-4E5B-9316-0DD8A930F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753" y="1128725"/>
            <a:ext cx="6047280" cy="436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9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1EA1EB-B0C4-41FC-80C4-C56BD3406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378" y="480487"/>
            <a:ext cx="6942422" cy="605842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86A7864-7E72-46BA-8307-5D66CBB782D8}"/>
              </a:ext>
            </a:extLst>
          </p:cNvPr>
          <p:cNvSpPr txBox="1">
            <a:spLocks/>
          </p:cNvSpPr>
          <p:nvPr/>
        </p:nvSpPr>
        <p:spPr>
          <a:xfrm>
            <a:off x="228600" y="443503"/>
            <a:ext cx="3590595" cy="565900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Метрики</a:t>
            </a:r>
            <a:r>
              <a:rPr lang="ru-RU" dirty="0"/>
              <a:t> </a:t>
            </a:r>
            <a:r>
              <a:rPr lang="ru-RU" sz="32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(по Архипову)</a:t>
            </a:r>
          </a:p>
        </p:txBody>
      </p:sp>
    </p:spTree>
    <p:extLst>
      <p:ext uri="{BB962C8B-B14F-4D97-AF65-F5344CB8AC3E}">
        <p14:creationId xmlns:p14="http://schemas.microsoft.com/office/powerpoint/2010/main" val="3092134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42D1695-84B9-406C-BE18-FE73908F48A1}"/>
              </a:ext>
            </a:extLst>
          </p:cNvPr>
          <p:cNvSpPr txBox="1">
            <a:spLocks/>
          </p:cNvSpPr>
          <p:nvPr/>
        </p:nvSpPr>
        <p:spPr>
          <a:xfrm>
            <a:off x="228600" y="443503"/>
            <a:ext cx="6975705" cy="5659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9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Метрики (по Архипову)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143494-942C-4E5B-9316-0DD8A930F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181" y="1146142"/>
            <a:ext cx="7115688" cy="513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2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BE3DD8-E72B-4378-9537-DFD9BAB0B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42" y="1356245"/>
            <a:ext cx="9557456" cy="4625810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DEFCEFB-91D0-4976-8D23-423C3B914A34}"/>
              </a:ext>
            </a:extLst>
          </p:cNvPr>
          <p:cNvSpPr txBox="1">
            <a:spLocks/>
          </p:cNvSpPr>
          <p:nvPr/>
        </p:nvSpPr>
        <p:spPr>
          <a:xfrm>
            <a:off x="508800" y="410255"/>
            <a:ext cx="7951870" cy="64071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Сводная таблица метрик</a:t>
            </a:r>
          </a:p>
        </p:txBody>
      </p:sp>
    </p:spTree>
    <p:extLst>
      <p:ext uri="{BB962C8B-B14F-4D97-AF65-F5344CB8AC3E}">
        <p14:creationId xmlns:p14="http://schemas.microsoft.com/office/powerpoint/2010/main" val="2173992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DEFCEFB-91D0-4976-8D23-423C3B914A34}"/>
              </a:ext>
            </a:extLst>
          </p:cNvPr>
          <p:cNvSpPr txBox="1">
            <a:spLocks/>
          </p:cNvSpPr>
          <p:nvPr/>
        </p:nvSpPr>
        <p:spPr>
          <a:xfrm>
            <a:off x="508800" y="410255"/>
            <a:ext cx="7951870" cy="64071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Сводная таблица метрик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9C570A-F790-4484-8342-B781B5B3BABC}"/>
              </a:ext>
            </a:extLst>
          </p:cNvPr>
          <p:cNvSpPr txBox="1"/>
          <p:nvPr/>
        </p:nvSpPr>
        <p:spPr>
          <a:xfrm>
            <a:off x="393390" y="1443841"/>
            <a:ext cx="103663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PSNR показывает, насколько заполненный контейнер отличается от пустого по яркости (в дБ, чем больше — тем лучше).</a:t>
            </a:r>
          </a:p>
          <a:p>
            <a:r>
              <a:rPr lang="ru-RU" dirty="0"/>
              <a:t>MSE — среднеквадратичная ошибка, усреднённый квадрат разницы между пикселями пустого и заполненного контейнера (чем меньше — тем лучше).</a:t>
            </a:r>
          </a:p>
          <a:p>
            <a:r>
              <a:rPr lang="ru-RU" dirty="0"/>
              <a:t>NMSE — нормированная среднеквадратичная ошибка, показывает, какую долю от общей энергии контейнера составляют искажения (чем меньше — тем лучше).</a:t>
            </a:r>
          </a:p>
          <a:p>
            <a:r>
              <a:rPr lang="ru-RU" dirty="0"/>
              <a:t>SNR — отношение сигнал/шум, во сколько раз энергия исходного изображения больше энергии внесённых искажений (чем больше — тем лучше).</a:t>
            </a:r>
          </a:p>
          <a:p>
            <a:r>
              <a:rPr lang="ru-RU" dirty="0"/>
              <a:t>NC — нормированная взаимная корреляция, коэффициент подобия пустого и заполненного контейнеров от 0 до 1 (чем ближе к 1 — тем сильнее они похожи).</a:t>
            </a:r>
          </a:p>
          <a:p>
            <a:r>
              <a:rPr lang="ru-RU" dirty="0"/>
              <a:t>IF — качество изображения, показывает, какую долю исходного изображения сохранил заполненный контейнер (чем ближе к 1 — тем лучше).</a:t>
            </a:r>
          </a:p>
          <a:p>
            <a:r>
              <a:rPr lang="ru-RU" dirty="0"/>
              <a:t>SC — структурное содержание, сравнивает энергию пустого и заполненного изображений и показывает, сохранилась ли структура контейнера (в идеале ≈ 1).</a:t>
            </a:r>
          </a:p>
        </p:txBody>
      </p:sp>
    </p:spTree>
    <p:extLst>
      <p:ext uri="{BB962C8B-B14F-4D97-AF65-F5344CB8AC3E}">
        <p14:creationId xmlns:p14="http://schemas.microsoft.com/office/powerpoint/2010/main" val="3199842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6897DF-7281-4FDF-9C71-B530F039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6" y="865430"/>
            <a:ext cx="9803674" cy="5673481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BB317F5-4931-4A58-944B-8F9638FA20D6}"/>
              </a:ext>
            </a:extLst>
          </p:cNvPr>
          <p:cNvSpPr txBox="1">
            <a:spLocks/>
          </p:cNvSpPr>
          <p:nvPr/>
        </p:nvSpPr>
        <p:spPr>
          <a:xfrm>
            <a:off x="367937" y="116966"/>
            <a:ext cx="6975705" cy="5659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StegoRevealer</a:t>
            </a:r>
            <a:r>
              <a:rPr lang="ru-RU" dirty="0"/>
              <a:t> 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(градиент, до)</a:t>
            </a:r>
          </a:p>
        </p:txBody>
      </p:sp>
    </p:spTree>
    <p:extLst>
      <p:ext uri="{BB962C8B-B14F-4D97-AF65-F5344CB8AC3E}">
        <p14:creationId xmlns:p14="http://schemas.microsoft.com/office/powerpoint/2010/main" val="2768785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DEA36F-CC02-4884-BBB6-15B1121F1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3" y="1292554"/>
            <a:ext cx="8201696" cy="4721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3C110-EB2E-442B-83D5-C9FF0B15020E}"/>
              </a:ext>
            </a:extLst>
          </p:cNvPr>
          <p:cNvSpPr txBox="1"/>
          <p:nvPr/>
        </p:nvSpPr>
        <p:spPr>
          <a:xfrm>
            <a:off x="8610600" y="1183600"/>
            <a:ext cx="332885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градиентного контейнера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стегоанализ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не выявил признаков встраивания: RS — 0,30 % и 0,35 % соответственно, SPA — 2,43 % и 3,13 %. Разница между пустым и заполненным контейнером лежит в пределах статистической погрешности, что говорит о высокой скрытности алгоритма F4 на плавных градиентных изображениях. Такой результат можно считать положительным: встраивание ЦВЗ не изменяет статистических характеристик контейнера настолько, чтобы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стегоанализ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смог его обнаружить.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5560A49-49A3-4B0A-8769-73A3D3C8AB5C}"/>
              </a:ext>
            </a:extLst>
          </p:cNvPr>
          <p:cNvSpPr txBox="1">
            <a:spLocks/>
          </p:cNvSpPr>
          <p:nvPr/>
        </p:nvSpPr>
        <p:spPr>
          <a:xfrm>
            <a:off x="237308" y="404349"/>
            <a:ext cx="6975705" cy="5659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StegoRevealer</a:t>
            </a:r>
            <a:r>
              <a:rPr lang="en-US" dirty="0"/>
              <a:t> </a:t>
            </a:r>
            <a:r>
              <a:rPr lang="en-US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градиент, после)</a:t>
            </a:r>
          </a:p>
        </p:txBody>
      </p:sp>
    </p:spTree>
    <p:extLst>
      <p:ext uri="{BB962C8B-B14F-4D97-AF65-F5344CB8AC3E}">
        <p14:creationId xmlns:p14="http://schemas.microsoft.com/office/powerpoint/2010/main" val="2625842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AD4DE9-B3E0-4123-9E4A-B29B0C4CB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78" y="900677"/>
            <a:ext cx="10130551" cy="5820797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1491B66-EF11-4E6E-B883-975426FC1332}"/>
              </a:ext>
            </a:extLst>
          </p:cNvPr>
          <p:cNvSpPr txBox="1">
            <a:spLocks/>
          </p:cNvSpPr>
          <p:nvPr/>
        </p:nvSpPr>
        <p:spPr>
          <a:xfrm>
            <a:off x="559526" y="247595"/>
            <a:ext cx="6975705" cy="5659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StegoRevealer</a:t>
            </a:r>
            <a:r>
              <a:rPr lang="ru-RU" dirty="0"/>
              <a:t> 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(шум, до)</a:t>
            </a:r>
          </a:p>
        </p:txBody>
      </p:sp>
    </p:spTree>
    <p:extLst>
      <p:ext uri="{BB962C8B-B14F-4D97-AF65-F5344CB8AC3E}">
        <p14:creationId xmlns:p14="http://schemas.microsoft.com/office/powerpoint/2010/main" val="815687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FEBDA6-942F-43E4-ADBA-9F388093C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7" y="1191447"/>
            <a:ext cx="8483403" cy="4859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362130-0D2A-45CD-AA66-353D925A9B26}"/>
              </a:ext>
            </a:extLst>
          </p:cNvPr>
          <p:cNvSpPr txBox="1"/>
          <p:nvPr/>
        </p:nvSpPr>
        <p:spPr>
          <a:xfrm>
            <a:off x="8717280" y="1017276"/>
            <a:ext cx="334752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П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устое изображение дало срабатывание комплексного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стегоанализа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 метода Жилкина, а оценка заполненности по методу RS составила 92,66 % — это типичное ложное срабатывание, поскольку случайный шум по статистике близок к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стеганограмме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 После встраивания метод Жилкина перестал обнаруживать встраивание. Такой результат показывает ограничение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стегоанализа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на шумовых контейнерах: он не способен отличить естественный шум от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стеганографического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вложения, а сам алгоритм F4 на подобных изображениях маскируется практически идеально.</a:t>
            </a: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D55AB0E-235F-4E6C-BADF-8DBC4E0A92E4}"/>
              </a:ext>
            </a:extLst>
          </p:cNvPr>
          <p:cNvSpPr txBox="1">
            <a:spLocks/>
          </p:cNvSpPr>
          <p:nvPr/>
        </p:nvSpPr>
        <p:spPr>
          <a:xfrm>
            <a:off x="359228" y="389738"/>
            <a:ext cx="6975705" cy="5659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StegoRevealer</a:t>
            </a:r>
            <a:r>
              <a:rPr lang="ru-RU" dirty="0"/>
              <a:t> 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(шум, после)</a:t>
            </a:r>
          </a:p>
        </p:txBody>
      </p:sp>
    </p:spTree>
    <p:extLst>
      <p:ext uri="{BB962C8B-B14F-4D97-AF65-F5344CB8AC3E}">
        <p14:creationId xmlns:p14="http://schemas.microsoft.com/office/powerpoint/2010/main" val="1318108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03B3F4-DE38-4C39-8273-C153923B8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9" y="1105054"/>
            <a:ext cx="9299677" cy="543385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205F1D1-0D1C-4EE4-848C-B946BAE6573C}"/>
              </a:ext>
            </a:extLst>
          </p:cNvPr>
          <p:cNvSpPr txBox="1">
            <a:spLocks/>
          </p:cNvSpPr>
          <p:nvPr/>
        </p:nvSpPr>
        <p:spPr>
          <a:xfrm>
            <a:off x="524691" y="356591"/>
            <a:ext cx="6975705" cy="5659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StegoRevealer</a:t>
            </a:r>
            <a:r>
              <a:rPr lang="ru-RU" dirty="0"/>
              <a:t> 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(пестрые, до)</a:t>
            </a:r>
          </a:p>
        </p:txBody>
      </p:sp>
    </p:spTree>
    <p:extLst>
      <p:ext uri="{BB962C8B-B14F-4D97-AF65-F5344CB8AC3E}">
        <p14:creationId xmlns:p14="http://schemas.microsoft.com/office/powerpoint/2010/main" val="436349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AD9D19-E184-492B-9AC6-46B8F0A75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36" y="1022352"/>
            <a:ext cx="8528301" cy="48575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C82BDA-AE5D-442F-A6D7-53541397E2B8}"/>
              </a:ext>
            </a:extLst>
          </p:cNvPr>
          <p:cNvSpPr txBox="1"/>
          <p:nvPr/>
        </p:nvSpPr>
        <p:spPr>
          <a:xfrm>
            <a:off x="8778241" y="1140823"/>
            <a:ext cx="3268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пёстрого контейнера с резкими переходами результаты пустого и заполненного вариантов оказались практически идентичными. Комплексный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стегоанализ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 метод Жилкина сработали и на пустом, и на заполненном изображении одинаково, что обусловлено высокой детализацией и контрастностью самого контейнера. Это означает, что на изображениях с текстурой встраивание ЦВЗ не вносит заметных статистических изменений, и алгоритм F4 демонстрирует высокую скрытность. </a:t>
            </a: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6317F82-F0F1-4349-9042-476E54715304}"/>
              </a:ext>
            </a:extLst>
          </p:cNvPr>
          <p:cNvSpPr txBox="1">
            <a:spLocks/>
          </p:cNvSpPr>
          <p:nvPr/>
        </p:nvSpPr>
        <p:spPr>
          <a:xfrm>
            <a:off x="385354" y="343389"/>
            <a:ext cx="6975705" cy="5659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StegoRevealer</a:t>
            </a:r>
            <a:r>
              <a:rPr lang="ru-RU" dirty="0"/>
              <a:t> 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(пестрые, после)</a:t>
            </a:r>
          </a:p>
        </p:txBody>
      </p:sp>
    </p:spTree>
    <p:extLst>
      <p:ext uri="{BB962C8B-B14F-4D97-AF65-F5344CB8AC3E}">
        <p14:creationId xmlns:p14="http://schemas.microsoft.com/office/powerpoint/2010/main" val="51334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CB357B-9531-4CFB-B85F-B41010701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2" y="996476"/>
            <a:ext cx="9159226" cy="5336964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012C78E-450A-476F-9591-18A30FEB2299}"/>
              </a:ext>
            </a:extLst>
          </p:cNvPr>
          <p:cNvSpPr txBox="1">
            <a:spLocks/>
          </p:cNvSpPr>
          <p:nvPr/>
        </p:nvSpPr>
        <p:spPr>
          <a:xfrm>
            <a:off x="568234" y="325971"/>
            <a:ext cx="6975705" cy="5659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StegoRevealer</a:t>
            </a:r>
            <a:r>
              <a:rPr lang="ru-RU" dirty="0"/>
              <a:t> 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ru-RU" sz="27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однотон</a:t>
            </a:r>
            <a:r>
              <a:rPr lang="ru-RU" sz="27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, до)</a:t>
            </a:r>
          </a:p>
        </p:txBody>
      </p:sp>
    </p:spTree>
    <p:extLst>
      <p:ext uri="{BB962C8B-B14F-4D97-AF65-F5344CB8AC3E}">
        <p14:creationId xmlns:p14="http://schemas.microsoft.com/office/powerpoint/2010/main" val="4167791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38707D-4C41-4836-A9EE-8D9387F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120142-D4AB-43EC-982D-F4AFF449B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6" y="1532413"/>
            <a:ext cx="8342065" cy="48239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F9A8A4-39AD-4032-B7D4-3C3E33063937}"/>
              </a:ext>
            </a:extLst>
          </p:cNvPr>
          <p:cNvSpPr txBox="1"/>
          <p:nvPr/>
        </p:nvSpPr>
        <p:spPr>
          <a:xfrm>
            <a:off x="8699863" y="1045029"/>
            <a:ext cx="33085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 однотонном контейнере встраивание оказалось очень заметным. Если у пустого изображения оценка заполненности по SPA составляла 0,00 %, а FAN — «не обнаружено», то после встраивания ЦВЗ SPA выросла до 66,67 %, а метод FAN дал срабатывание (1,039). 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 однотонном фоне любое изменение младших битов пикселей нарушает однородность и становится статистически заметным.</a:t>
            </a: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6B69C9A-AC5F-49D2-8B5F-AFE52E3701DF}"/>
              </a:ext>
            </a:extLst>
          </p:cNvPr>
          <p:cNvSpPr txBox="1">
            <a:spLocks/>
          </p:cNvSpPr>
          <p:nvPr/>
        </p:nvSpPr>
        <p:spPr>
          <a:xfrm>
            <a:off x="428897" y="501650"/>
            <a:ext cx="6975705" cy="5659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StegoRevealer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ru-RU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однотон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, после)</a:t>
            </a:r>
          </a:p>
        </p:txBody>
      </p:sp>
    </p:spTree>
    <p:extLst>
      <p:ext uri="{BB962C8B-B14F-4D97-AF65-F5344CB8AC3E}">
        <p14:creationId xmlns:p14="http://schemas.microsoft.com/office/powerpoint/2010/main" val="1103184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3123</TotalTime>
  <Words>1270</Words>
  <Application>Microsoft Office PowerPoint</Application>
  <PresentationFormat>Широкоэкранный</PresentationFormat>
  <Paragraphs>131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quote-cjk-patch</vt:lpstr>
      <vt:lpstr>Times New Roman</vt:lpstr>
      <vt:lpstr>Тема Office</vt:lpstr>
      <vt:lpstr>Стеганографические методы защиты информации Задание 2</vt:lpstr>
      <vt:lpstr>Оглавление</vt:lpstr>
      <vt:lpstr>Алгоритм F4</vt:lpstr>
      <vt:lpstr>Алгоритм F4. Встраивание, извлечение</vt:lpstr>
      <vt:lpstr>Алгоритм F4. Встраивание, извлечение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Левахина Ксения Сергеевна</cp:lastModifiedBy>
  <cp:revision>327</cp:revision>
  <dcterms:created xsi:type="dcterms:W3CDTF">2021-11-29T10:22:08Z</dcterms:created>
  <dcterms:modified xsi:type="dcterms:W3CDTF">2026-10-29T13:03:26Z</dcterms:modified>
</cp:coreProperties>
</file>